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133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86225" y="602159"/>
            <a:ext cx="9715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09600" y="1859459"/>
            <a:ext cx="79248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POC: Desktop Automation Using FlaUI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950333" y="3109020"/>
            <a:ext cx="52433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with Unified QA Automation Framework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739201" y="4038600"/>
            <a:ext cx="181251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cs typeface="Segoe UI" pitchFamily="34" charset="-120"/>
              </a:rPr>
              <a:t>Prasanth Kumar, Sr QA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534113" y="4354711"/>
            <a:ext cx="20756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December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POC Was Needed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3382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currently support Web, API, DB automation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requirement: automate Desktop (Win32/WPF) applications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a stable, maintainable, scalable desktop automation solution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FlaUI chosen as a strong candidate:</a:t>
            </a:r>
            <a:endParaRPr lang="en-US" sz="1350" dirty="0"/>
          </a:p>
          <a:p>
            <a:pPr lvl="2">
              <a:lnSpc>
                <a:spcPts val="3240"/>
              </a:lnSpc>
              <a:buSzPct val="100000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Free &amp; Open-source</a:t>
            </a:r>
            <a:endParaRPr lang="en-US" sz="1350" dirty="0"/>
          </a:p>
          <a:p>
            <a:pPr lvl="2">
              <a:lnSpc>
                <a:spcPts val="3240"/>
              </a:lnSpc>
              <a:buSzPct val="100000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Supports UIA2/UIA3</a:t>
            </a:r>
            <a:endParaRPr lang="en-US" sz="1350" dirty="0"/>
          </a:p>
          <a:p>
            <a:pPr lvl="2">
              <a:lnSpc>
                <a:spcPts val="3240"/>
              </a:lnSpc>
              <a:buSzPct val="100000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Works with Win32, WPF, UWP</a:t>
            </a:r>
            <a:endParaRPr lang="en-US" sz="1350" dirty="0"/>
          </a:p>
          <a:p>
            <a:pPr lvl="2">
              <a:lnSpc>
                <a:spcPts val="3240"/>
              </a:lnSpc>
              <a:buSzPct val="100000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Easy C# integration with our framework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892040" y="2762794"/>
            <a:ext cx="3642359" cy="175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5543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8200" y="198105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FlaUI for real-world automation use cases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8200" y="2880122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Framework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306812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pilot desktop framework integrated into unified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4205883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Coverage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463257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key WPF controls &amp; evaluate CI/CD feasibility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Automated in This POC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WPF Controls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251"/>
            <a:ext cx="7620000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Button, TextBox, ComboBox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ListBox, ListView, DataGrid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TreeView, Menu/Dialog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Tabs, ProgressBar, Slider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332169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Achieved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748385"/>
            <a:ext cx="7620000" cy="121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Actions: click, type, select, expand, navigate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Verifications: text, count, selection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44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Tree expansion &amp; modal dialogs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2375111"/>
            <a:ext cx="2263825" cy="2008584"/>
          </a:xfrm>
          <a:prstGeom prst="roundRect">
            <a:avLst>
              <a:gd name="adj" fmla="val 36420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6307" y="2187662"/>
            <a:ext cx="2263825" cy="2383482"/>
          </a:xfrm>
          <a:prstGeom prst="roundRect">
            <a:avLst>
              <a:gd name="adj" fmla="val 32313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83522" y="1615306"/>
            <a:ext cx="2509374" cy="3528194"/>
          </a:xfrm>
          <a:prstGeom prst="roundRect">
            <a:avLst>
              <a:gd name="adj" fmla="val 32216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Integration - Unified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24087" y="1836154"/>
            <a:ext cx="18427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877" y="2571499"/>
            <a:ext cx="1383447" cy="886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36"/>
              </a:lnSpc>
              <a:buSzPct val="100000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&amp; Reporting</a:t>
            </a:r>
            <a:endParaRPr lang="en-US" sz="1140" dirty="0"/>
          </a:p>
          <a:p>
            <a:pPr algn="ctr">
              <a:lnSpc>
                <a:spcPts val="2736"/>
              </a:lnSpc>
              <a:buSzPct val="100000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&amp; BDD structure</a:t>
            </a:r>
            <a:endParaRPr lang="en-US" sz="1140" dirty="0"/>
          </a:p>
          <a:p>
            <a:pPr algn="ctr">
              <a:lnSpc>
                <a:spcPts val="2736"/>
              </a:lnSpc>
              <a:buSzPct val="100000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 structure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039070" y="1682503"/>
            <a:ext cx="18427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9206" y="2375111"/>
            <a:ext cx="1578025" cy="1385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36"/>
              </a:lnSpc>
              <a:buSzPct val="100000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DesktopBasePage</a:t>
            </a:r>
            <a:endParaRPr lang="en-US" sz="1140" dirty="0"/>
          </a:p>
          <a:p>
            <a:pPr algn="ctr">
              <a:lnSpc>
                <a:spcPts val="2736"/>
              </a:lnSpc>
              <a:buSzPct val="100000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ApplicationManager</a:t>
            </a:r>
            <a:endParaRPr lang="en-US" sz="1140" dirty="0"/>
          </a:p>
          <a:p>
            <a:pPr algn="ctr">
              <a:lnSpc>
                <a:spcPts val="2736"/>
              </a:lnSpc>
              <a:buSzPct val="100000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Page Objects</a:t>
            </a:r>
            <a:endParaRPr lang="en-US" sz="1140" dirty="0"/>
          </a:p>
          <a:p>
            <a:pPr algn="ctr">
              <a:lnSpc>
                <a:spcPts val="2736"/>
              </a:lnSpc>
              <a:buSzPct val="100000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Step Definitions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272662" y="1213211"/>
            <a:ext cx="218153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83522" y="1615306"/>
            <a:ext cx="2376880" cy="279861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1"/>
          <a:lstStyle/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Steps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Desktop POM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FlaUI Engine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020" dirty="0"/>
          </a:p>
          <a:p>
            <a:pPr marL="0" indent="0" algn="ctr">
              <a:lnSpc>
                <a:spcPts val="2992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Desktop App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4924" y="19812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Components Added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63524" y="106668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ApplicationManager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8324" y="1493371"/>
            <a:ext cx="71628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Launch/Close app</a:t>
            </a:r>
            <a:endParaRPr lang="en-US" sz="90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UIA3Automation sessions</a:t>
            </a:r>
            <a:endParaRPr lang="en-US" sz="90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screenshots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" y="2731249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DesktopBasePage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8324" y="3248197"/>
            <a:ext cx="71628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to main window</a:t>
            </a:r>
            <a:endParaRPr lang="en-US" sz="90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control lookup helpers</a:t>
            </a:r>
            <a:endParaRPr lang="en-US" sz="90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element finding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29817" y="189014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Hooks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49724" y="2239434"/>
            <a:ext cx="71628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app start/stop</a:t>
            </a:r>
            <a:endParaRPr lang="en-US" sz="90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Tag-based (@desktop)</a:t>
            </a:r>
            <a:endParaRPr lang="en-US" sz="90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reporting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Technical Challenges Solved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Stable Element Identification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523851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AutomationId first, ControlType + Patterns as fallback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955155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🎛️ Complex Control Handling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229445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WPF ListView, DataGrid, TreeView with deep TextBlock identification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2660749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Parallel Test Considerations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2935039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desktop session (no parallel runs)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3366343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CI/CD Execution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640634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Windows agent with interactive session required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95474"/>
            <a:ext cx="7924800" cy="1173361"/>
          </a:xfrm>
          <a:prstGeom prst="roundRect">
            <a:avLst>
              <a:gd name="adj" fmla="val 6234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021235"/>
            <a:ext cx="7924800" cy="1173361"/>
          </a:xfrm>
          <a:prstGeom prst="roundRect">
            <a:avLst>
              <a:gd name="adj" fmla="val 6234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346996"/>
            <a:ext cx="7924800" cy="1173361"/>
          </a:xfrm>
          <a:prstGeom prst="roundRect">
            <a:avLst>
              <a:gd name="adj" fmla="val 62344"/>
            </a:avLst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194069" y="207913"/>
            <a:ext cx="27558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Flow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63524" y="924074"/>
            <a:ext cx="761695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1️⃣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3524" y="1426964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WPF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3524" y="2249835"/>
            <a:ext cx="761695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2️⃣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63524" y="2752725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Tests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3524" y="3575596"/>
            <a:ext cx="761695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3️⃣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63524" y="4078486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Results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of the POC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4019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Automation Success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828651"/>
            <a:ext cx="71628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of required Win32/WPF controls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 dialogs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logic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838200" y="3178150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Stability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706608"/>
            <a:ext cx="71628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 pass rate across runs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Hooks integration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Logging &amp; Reporting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500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Feasibility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924967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51657"/>
            <a:ext cx="7620000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Windows Agent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Auto-login enabled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screen lock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8 installed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3025081"/>
            <a:ext cx="80832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CI Pipeline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51771"/>
            <a:ext cx="7620000" cy="169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code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WPF application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test project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@desktop tests only</a:t>
            </a:r>
            <a:endParaRPr lang="en-US" sz="1080" dirty="0"/>
          </a:p>
          <a:p>
            <a:pPr marL="342900" indent="-342900">
              <a:lnSpc>
                <a:spcPts val="259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reports + screenshots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485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4450" y="1249561"/>
            <a:ext cx="36270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WPF Coverage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14450" y="1600051"/>
            <a:ext cx="36270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more complex WPF controls and scenarios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041922"/>
            <a:ext cx="485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041922"/>
            <a:ext cx="31947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Mixed Flows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4450" y="2392412"/>
            <a:ext cx="31947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DB + Desktop + API mixed test flows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834283"/>
            <a:ext cx="485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14450" y="2834283"/>
            <a:ext cx="37368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Reporting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14450" y="3184773"/>
            <a:ext cx="37368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desktop-specific reporting blocks &amp; automations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5215" y="1459350"/>
            <a:ext cx="32934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3066099" y="2718495"/>
            <a:ext cx="30116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your attention!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70461" y="3495675"/>
            <a:ext cx="32030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discuss FlaUI implementation &amp; next phases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463</Words>
  <Application>Microsoft Office PowerPoint</Application>
  <PresentationFormat>On-screen Show (16:9)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Prasanth Kumar Tikka</cp:lastModifiedBy>
  <cp:revision>3</cp:revision>
  <dcterms:created xsi:type="dcterms:W3CDTF">2025-12-04T13:46:54Z</dcterms:created>
  <dcterms:modified xsi:type="dcterms:W3CDTF">2025-12-04T14:40:54Z</dcterms:modified>
</cp:coreProperties>
</file>